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C9A227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389120"/>
            <a:ext cx="4114800" cy="4114800"/>
          </a:xfrm>
          <a:prstGeom prst="ellipse">
            <a:avLst/>
          </a:prstGeom>
          <a:solidFill>
            <a:srgbClr val="B8BEC8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MALAYSIA'S AI-FIRST IT PARTNER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69748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Duta Integra Solutions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8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Technology. Integrated Solutions.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434840"/>
            <a:ext cx="12801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Overview  ·  </a:t>
            </a:r>
            <a:pPr indent="0" marL="0">
              <a:buNone/>
            </a:pPr>
            <a:r>
              <a:rPr lang="en-US" sz="1200" dirty="0">
                <a:solidFill>
                  <a:srgbClr val="B8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Shamel, Founder &amp; CEO  ·  </a:t>
            </a:r>
            <a:pPr indent="0" marL="0">
              <a:buNone/>
            </a:pPr>
            <a:r>
              <a:rPr lang="en-US" sz="1200" dirty="0">
                <a:solidFill>
                  <a:srgbClr val="B8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Cyberjaya, Selangor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6263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www.dutaintegra.my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Malaysian SMEs are digitalising fast — but stuck juggling vendors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3832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031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6060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97%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868680" y="32461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Malaysian companies are SMEs — the backbone of the economy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43400" y="1828800"/>
            <a:ext cx="33832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210312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72000" y="26060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37%</a:t>
            </a:r>
            <a:endParaRPr lang="en-US" sz="3800" dirty="0"/>
          </a:p>
        </p:txBody>
      </p:sp>
      <p:sp>
        <p:nvSpPr>
          <p:cNvPr id="11" name="Text 7"/>
          <p:cNvSpPr/>
          <p:nvPr/>
        </p:nvSpPr>
        <p:spPr>
          <a:xfrm>
            <a:off x="4572000" y="32461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SMEs have adopted cloud-based business systems as of 2024 — most haven't started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8046720" y="1828800"/>
            <a:ext cx="33832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10312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75320" y="26060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12%</a:t>
            </a:r>
            <a:endParaRPr lang="en-US" sz="3800" dirty="0"/>
          </a:p>
        </p:txBody>
      </p:sp>
      <p:sp>
        <p:nvSpPr>
          <p:cNvPr id="15" name="Text 10"/>
          <p:cNvSpPr/>
          <p:nvPr/>
        </p:nvSpPr>
        <p:spPr>
          <a:xfrm>
            <a:off x="8275320" y="32461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 among Malaysian SMEs in 2024, projected to reach 28–35% by 2026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40080" y="4526280"/>
            <a:ext cx="10881360" cy="1508760"/>
          </a:xfrm>
          <a:prstGeom prst="roundRect">
            <a:avLst>
              <a:gd name="adj" fmla="val 4848"/>
            </a:avLst>
          </a:prstGeom>
          <a:solidFill>
            <a:srgbClr val="1E2D3D"/>
          </a:solidFill>
          <a:ln/>
        </p:spPr>
      </p:sp>
      <p:sp>
        <p:nvSpPr>
          <p:cNvPr id="17" name="Text 12"/>
          <p:cNvSpPr/>
          <p:nvPr/>
        </p:nvSpPr>
        <p:spPr>
          <a:xfrm>
            <a:off x="1005840" y="4709160"/>
            <a:ext cx="10149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 need AI tools and reliable IT infrastructure — but today they're forced to stitch together freelancers, agencies, and software vendors with no single accountable partner who understands the local regulatory context (PDPA, SST, ePerolehan).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partner for AI ambition and day-to-day IT reality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8F9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48840"/>
            <a:ext cx="640080" cy="640080"/>
          </a:xfrm>
          <a:prstGeom prst="ellipse">
            <a:avLst/>
          </a:prstGeom>
          <a:solidFill>
            <a:srgbClr val="1E2D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30428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13055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Software Development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737360" y="2560320"/>
            <a:ext cx="3977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chatbots, process automation, ML models, NLP tools, AI dashboards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87452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8F9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2148840"/>
            <a:ext cx="640080" cy="640080"/>
          </a:xfrm>
          <a:prstGeom prst="ellipse">
            <a:avLst/>
          </a:prstGeom>
          <a:solidFill>
            <a:srgbClr val="1E2D3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08" y="230428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213055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Managed IT Services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7360920" y="2560320"/>
            <a:ext cx="3977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helpdesk, network management, hardware, backups, security monitoring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416052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8F9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434840"/>
            <a:ext cx="640080" cy="640080"/>
          </a:xfrm>
          <a:prstGeom prst="ellipse">
            <a:avLst/>
          </a:prstGeom>
          <a:solidFill>
            <a:srgbClr val="1E2D3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459028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41655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Migration &amp; Management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1737360" y="4846320"/>
            <a:ext cx="3977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AWS, Azure, GCP — planning, migration, hybrid architecture, cost optimisation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63640" y="416052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8F9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37960" y="4434840"/>
            <a:ext cx="640080" cy="640080"/>
          </a:xfrm>
          <a:prstGeom prst="ellipse">
            <a:avLst/>
          </a:prstGeom>
          <a:solidFill>
            <a:srgbClr val="1E2D3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08" y="459028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441655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Security &amp; PDPA Compliance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7360920" y="4846320"/>
            <a:ext cx="3977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audits, cybersecurity monitoring, incident response planning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 Traction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products, built and shipped — not slideware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02152" cy="416052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5740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Leish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 Booking Marketplace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103120" y="3291840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enquiries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40690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103120" y="4160520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support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9377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3x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103120" y="5029200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25112" y="1828800"/>
            <a:ext cx="3502152" cy="416052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99432" y="205740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Eastelpro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99432" y="251460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Marketing &amp; SIM Platform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99432" y="32004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99.9%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788152" y="3291840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99432" y="40690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788152" y="4160520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saved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99432" y="49377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788152" y="5029200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010144" y="1828800"/>
            <a:ext cx="3502152" cy="416052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84464" y="205740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AGMX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284464" y="251460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AGM Governance OS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284464" y="32004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98%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9473184" y="3291840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84464" y="40690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9473184" y="4160520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AGMs run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284464" y="49377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9473184" y="5029200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Model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retainers + project-based AI development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IT — MONTHLY RETAINERS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3502152" cy="1691640"/>
          </a:xfrm>
          <a:prstGeom prst="roundRect">
            <a:avLst>
              <a:gd name="adj" fmla="val 3784"/>
            </a:avLst>
          </a:prstGeom>
          <a:solidFill>
            <a:srgbClr val="F8F9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221992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560320"/>
            <a:ext cx="3044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 799/mo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3017520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 users · Business-hours helpdesk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25112" y="2057400"/>
            <a:ext cx="3502152" cy="1691640"/>
          </a:xfrm>
          <a:prstGeom prst="roundRect">
            <a:avLst>
              <a:gd name="adj" fmla="val 3784"/>
            </a:avLst>
          </a:prstGeom>
          <a:solidFill>
            <a:srgbClr val="1E2D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53712" y="2221992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53712" y="2560320"/>
            <a:ext cx="3044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 1,899/mo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53712" y="3017520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20 users · 24/7 monitoring · Dedicated AM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10144" y="2057400"/>
            <a:ext cx="3502152" cy="1691640"/>
          </a:xfrm>
          <a:prstGeom prst="roundRect">
            <a:avLst>
              <a:gd name="adj" fmla="val 3784"/>
            </a:avLst>
          </a:prstGeom>
          <a:solidFill>
            <a:srgbClr val="F8F9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38744" y="2221992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38744" y="2560320"/>
            <a:ext cx="3044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238744" y="3017520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users · Full SLA · On-site support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977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DEVELOPMENT — PROJECT PRICING (FROM)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4343400"/>
            <a:ext cx="3502152" cy="713232"/>
          </a:xfrm>
          <a:prstGeom prst="roundRect">
            <a:avLst>
              <a:gd name="adj" fmla="val 7692"/>
            </a:avLst>
          </a:prstGeom>
          <a:solidFill>
            <a:srgbClr val="F8F9FB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416552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2960" y="470916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3,500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325112" y="4343400"/>
            <a:ext cx="3502152" cy="713232"/>
          </a:xfrm>
          <a:prstGeom prst="roundRect">
            <a:avLst>
              <a:gd name="adj" fmla="val 7692"/>
            </a:avLst>
          </a:prstGeom>
          <a:solidFill>
            <a:srgbClr val="F8F9FB"/>
          </a:solidFill>
          <a:ln/>
        </p:spPr>
      </p:sp>
      <p:sp>
        <p:nvSpPr>
          <p:cNvPr id="22" name="Text 20"/>
          <p:cNvSpPr/>
          <p:nvPr/>
        </p:nvSpPr>
        <p:spPr>
          <a:xfrm>
            <a:off x="4507992" y="4416552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Automation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07992" y="470916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5,000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010144" y="4343400"/>
            <a:ext cx="3502152" cy="713232"/>
          </a:xfrm>
          <a:prstGeom prst="roundRect">
            <a:avLst>
              <a:gd name="adj" fmla="val 7692"/>
            </a:avLst>
          </a:prstGeom>
          <a:solidFill>
            <a:srgbClr val="F8F9FB"/>
          </a:solidFill>
          <a:ln/>
        </p:spPr>
      </p:sp>
      <p:sp>
        <p:nvSpPr>
          <p:cNvPr id="25" name="Text 23"/>
          <p:cNvSpPr/>
          <p:nvPr/>
        </p:nvSpPr>
        <p:spPr>
          <a:xfrm>
            <a:off x="8193024" y="4416552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193024" y="470916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2,500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" y="5221224"/>
            <a:ext cx="3502152" cy="713232"/>
          </a:xfrm>
          <a:prstGeom prst="roundRect">
            <a:avLst>
              <a:gd name="adj" fmla="val 7692"/>
            </a:avLst>
          </a:prstGeom>
          <a:solidFill>
            <a:srgbClr val="F8F9FB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5294376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Dev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22960" y="5586984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8,000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325112" y="5221224"/>
            <a:ext cx="3502152" cy="713232"/>
          </a:xfrm>
          <a:prstGeom prst="roundRect">
            <a:avLst>
              <a:gd name="adj" fmla="val 7692"/>
            </a:avLst>
          </a:prstGeom>
          <a:solidFill>
            <a:srgbClr val="F8F9FB"/>
          </a:solidFill>
          <a:ln/>
        </p:spPr>
      </p:sp>
      <p:sp>
        <p:nvSpPr>
          <p:cNvPr id="31" name="Text 29"/>
          <p:cNvSpPr/>
          <p:nvPr/>
        </p:nvSpPr>
        <p:spPr>
          <a:xfrm>
            <a:off x="4507992" y="5294376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Migration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507992" y="5586984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4,000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8010144" y="5221224"/>
            <a:ext cx="3502152" cy="713232"/>
          </a:xfrm>
          <a:prstGeom prst="roundRect">
            <a:avLst>
              <a:gd name="adj" fmla="val 7692"/>
            </a:avLst>
          </a:prstGeom>
          <a:solidFill>
            <a:srgbClr val="F8F9FB"/>
          </a:solidFill>
          <a:ln/>
        </p:spPr>
      </p:sp>
      <p:sp>
        <p:nvSpPr>
          <p:cNvPr id="34" name="Text 32"/>
          <p:cNvSpPr/>
          <p:nvPr/>
        </p:nvSpPr>
        <p:spPr>
          <a:xfrm>
            <a:off x="8193024" y="5294376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PDPA Audit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193024" y="5586984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1,800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Opportunity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Malaysia's digital transformation market is growing fast — and grant-fuelled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502152" cy="1554480"/>
          </a:xfrm>
          <a:prstGeom prst="roundRect">
            <a:avLst>
              <a:gd name="adj" fmla="val 4706"/>
            </a:avLst>
          </a:prstGeom>
          <a:solidFill>
            <a:srgbClr val="151F2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057400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USD 12.7B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8680" y="2743200"/>
            <a:ext cx="3044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Malaysia digital transformation market size, 2026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25112" y="1874520"/>
            <a:ext cx="3502152" cy="1554480"/>
          </a:xfrm>
          <a:prstGeom prst="roundRect">
            <a:avLst>
              <a:gd name="adj" fmla="val 4706"/>
            </a:avLst>
          </a:prstGeom>
          <a:solidFill>
            <a:srgbClr val="151F2B"/>
          </a:solidFill>
          <a:ln/>
        </p:spPr>
      </p:sp>
      <p:sp>
        <p:nvSpPr>
          <p:cNvPr id="8" name="Text 6"/>
          <p:cNvSpPr/>
          <p:nvPr/>
        </p:nvSpPr>
        <p:spPr>
          <a:xfrm>
            <a:off x="4553712" y="2057400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18.6%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53712" y="2743200"/>
            <a:ext cx="3044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through 2031, reaching ~USD 29.7B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10144" y="1874520"/>
            <a:ext cx="3502152" cy="1554480"/>
          </a:xfrm>
          <a:prstGeom prst="roundRect">
            <a:avLst>
              <a:gd name="adj" fmla="val 4706"/>
            </a:avLst>
          </a:prstGeom>
          <a:solidFill>
            <a:srgbClr val="151F2B"/>
          </a:solidFill>
          <a:ln/>
        </p:spPr>
      </p:sp>
      <p:sp>
        <p:nvSpPr>
          <p:cNvPr id="11" name="Text 9"/>
          <p:cNvSpPr/>
          <p:nvPr/>
        </p:nvSpPr>
        <p:spPr>
          <a:xfrm>
            <a:off x="8238744" y="2057400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19.6%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238744" y="2743200"/>
            <a:ext cx="3044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segment CAGR — fastest-growing buyer group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3703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2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087368"/>
            <a:ext cx="256032" cy="25603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051560" y="406908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2026 commits RM1.5B+ to MSME digital adoption, on top of an RM34.9B SME fund pool</a:t>
            </a:r>
            <a:endParaRPr lang="en-US" sz="13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654296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051560" y="463600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MDEC's Malaysia Digital Acceleration Grant (MDAG) matches up to 70% of project costs for qualifying tech companies</a:t>
            </a:r>
            <a:endParaRPr lang="en-US" sz="13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221224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51560" y="5202936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37% of SMEs have adopted cloud systems — the addressable gap is still wide open</a:t>
            </a:r>
            <a:endParaRPr lang="en-US" sz="13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788152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51560" y="576986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 among SMEs is projected to triple, from 12% (2024) toward 28–35% by 2026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Duta Integra Wins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expertise, single-vendor simplicity, and a founder who builds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488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99339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Expertise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508760" y="2359152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understand PDPA, SST, ePerolehan, and the SME landscape natively — no context-setting needed.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63640" y="182880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14884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32320" y="199339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+ IT Combined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132320" y="2359152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vendor for AI ambition and day-to-day IT — simpler, cheaper, better coordinated than juggling multiple agencies.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47472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79476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363931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Transparent Pricing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508760" y="4005072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monthly retainers and fixed project scopes. No hidden fees, no lock-in.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263640" y="347472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379476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132320" y="363931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 Execution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7132320" y="4005072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initial audit, proposal within 3 working days, on-schedule delivery.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40080" y="512064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1E2D3D"/>
          </a:solidFill>
          <a:ln/>
        </p:spPr>
      </p:sp>
      <p:sp>
        <p:nvSpPr>
          <p:cNvPr id="21" name="Text 15"/>
          <p:cNvSpPr/>
          <p:nvPr/>
        </p:nvSpPr>
        <p:spPr>
          <a:xfrm>
            <a:off x="960120" y="5285232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Founder: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Self-taught developer, entrepreneur, product manager, and business analyst — building hands-on in tech since 2021, and now full-time as Founder &amp; CEO.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phases — legal foundations through to team building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8F9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48840"/>
            <a:ext cx="548640" cy="548640"/>
          </a:xfrm>
          <a:prstGeom prst="ellipse">
            <a:avLst/>
          </a:prstGeom>
          <a:solidFill>
            <a:srgbClr val="1E2D3D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83464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Legal &amp; Compliance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68680" y="3429000"/>
            <a:ext cx="1417320" cy="320040"/>
          </a:xfrm>
          <a:prstGeom prst="roundRect">
            <a:avLst>
              <a:gd name="adj" fmla="val 48571"/>
            </a:avLst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4290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388620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SSM registration &amp; business bank account confirmed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19202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8F9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11880" y="2148840"/>
            <a:ext cx="548640" cy="548640"/>
          </a:xfrm>
          <a:prstGeom prst="ellipse">
            <a:avLst/>
          </a:prstGeom>
          <a:solidFill>
            <a:srgbClr val="1E2D3D"/>
          </a:solidFill>
          <a:ln/>
        </p:spPr>
      </p:sp>
      <p:sp>
        <p:nvSpPr>
          <p:cNvPr id="13" name="Text 11"/>
          <p:cNvSpPr/>
          <p:nvPr/>
        </p:nvSpPr>
        <p:spPr>
          <a:xfrm>
            <a:off x="361188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11880" y="283464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Branding &amp; Marketing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3611880" y="3429000"/>
            <a:ext cx="1417320" cy="320040"/>
          </a:xfrm>
          <a:prstGeom prst="roundRect">
            <a:avLst>
              <a:gd name="adj" fmla="val 48571"/>
            </a:avLst>
          </a:prstGeom>
          <a:solidFill>
            <a:srgbClr val="C9A227"/>
          </a:solidFill>
          <a:ln/>
        </p:spPr>
      </p:sp>
      <p:sp>
        <p:nvSpPr>
          <p:cNvPr id="16" name="Text 14"/>
          <p:cNvSpPr/>
          <p:nvPr/>
        </p:nvSpPr>
        <p:spPr>
          <a:xfrm>
            <a:off x="3611880" y="34290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11880" y="388620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system, website, and portfolio live; pitch materials underway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9202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8F9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55080" y="2148840"/>
            <a:ext cx="548640" cy="548640"/>
          </a:xfrm>
          <a:prstGeom prst="ellipse">
            <a:avLst/>
          </a:prstGeom>
          <a:solidFill>
            <a:srgbClr val="1E2D3D"/>
          </a:solidFill>
          <a:ln/>
        </p:spPr>
      </p:sp>
      <p:sp>
        <p:nvSpPr>
          <p:cNvPr id="20" name="Text 18"/>
          <p:cNvSpPr/>
          <p:nvPr/>
        </p:nvSpPr>
        <p:spPr>
          <a:xfrm>
            <a:off x="635508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355080" y="283464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First Clients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355080" y="3429000"/>
            <a:ext cx="1417320" cy="320040"/>
          </a:xfrm>
          <a:prstGeom prst="roundRect">
            <a:avLst>
              <a:gd name="adj" fmla="val 48571"/>
            </a:avLst>
          </a:prstGeom>
          <a:solidFill>
            <a:srgbClr val="B8BEC8"/>
          </a:solidFill>
          <a:ln/>
        </p:spPr>
      </p:sp>
      <p:sp>
        <p:nvSpPr>
          <p:cNvPr id="23" name="Text 21"/>
          <p:cNvSpPr/>
          <p:nvPr/>
        </p:nvSpPr>
        <p:spPr>
          <a:xfrm>
            <a:off x="6355080" y="34290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A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355080" y="388620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Leish, Eastelpro &amp; AGMX delivered — scaling outreach to SMEs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869680" y="19202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8F9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098280" y="2148840"/>
            <a:ext cx="548640" cy="548640"/>
          </a:xfrm>
          <a:prstGeom prst="ellipse">
            <a:avLst/>
          </a:prstGeom>
          <a:solidFill>
            <a:srgbClr val="1E2D3D"/>
          </a:solidFill>
          <a:ln/>
        </p:spPr>
      </p:sp>
      <p:sp>
        <p:nvSpPr>
          <p:cNvPr id="27" name="Text 25"/>
          <p:cNvSpPr/>
          <p:nvPr/>
        </p:nvSpPr>
        <p:spPr>
          <a:xfrm>
            <a:off x="909828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098280" y="283464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 Team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9098280" y="3429000"/>
            <a:ext cx="1417320" cy="320040"/>
          </a:xfrm>
          <a:prstGeom prst="roundRect">
            <a:avLst>
              <a:gd name="adj" fmla="val 48571"/>
            </a:avLst>
          </a:prstGeom>
          <a:solidFill>
            <a:srgbClr val="B8BEC8"/>
          </a:solidFill>
          <a:ln/>
        </p:spPr>
      </p:sp>
      <p:sp>
        <p:nvSpPr>
          <p:cNvPr id="30" name="Text 28"/>
          <p:cNvSpPr/>
          <p:nvPr/>
        </p:nvSpPr>
        <p:spPr>
          <a:xfrm>
            <a:off x="9098280" y="34290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A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098280" y="388620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lead &amp; BD hire planned as revenue/funding allows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C9A227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 205,000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B8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runway to scale from solo founder to a functioning team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8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  (12 MONTHS)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2423160"/>
            <a:ext cx="5257800" cy="914400"/>
          </a:xfrm>
          <a:prstGeom prst="roundRect">
            <a:avLst>
              <a:gd name="adj" fmla="val 6000"/>
            </a:avLst>
          </a:prstGeom>
          <a:solidFill>
            <a:srgbClr val="151F2B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25146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1248" y="280720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lead + BD/sales support, hired from month 4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0" y="25146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 76,500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114800" y="28346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B8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37%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63640" y="2423160"/>
            <a:ext cx="5257800" cy="914400"/>
          </a:xfrm>
          <a:prstGeom prst="roundRect">
            <a:avLst>
              <a:gd name="adj" fmla="val 6000"/>
            </a:avLst>
          </a:prstGeom>
          <a:solidFill>
            <a:srgbClr val="151F2B"/>
          </a:solidFill>
          <a:ln/>
        </p:spPr>
      </p:sp>
      <p:sp>
        <p:nvSpPr>
          <p:cNvPr id="13" name="Text 11"/>
          <p:cNvSpPr/>
          <p:nvPr/>
        </p:nvSpPr>
        <p:spPr>
          <a:xfrm>
            <a:off x="6464808" y="25146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Capital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64808" y="280720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salary, tools, workspace, 10% contingency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738360" y="25146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 96,500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738360" y="28346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B8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3483864"/>
            <a:ext cx="5257800" cy="914400"/>
          </a:xfrm>
          <a:prstGeom prst="roundRect">
            <a:avLst>
              <a:gd name="adj" fmla="val 6000"/>
            </a:avLst>
          </a:prstGeom>
          <a:solidFill>
            <a:srgbClr val="151F2B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357530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Acquisition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1248" y="386791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Marketing, outreach, pilot offers to convert pipeline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0" y="3575304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 24,000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114800" y="389534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B8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63640" y="3483864"/>
            <a:ext cx="5257800" cy="914400"/>
          </a:xfrm>
          <a:prstGeom prst="roundRect">
            <a:avLst>
              <a:gd name="adj" fmla="val 6000"/>
            </a:avLst>
          </a:prstGeom>
          <a:solidFill>
            <a:srgbClr val="151F2B"/>
          </a:solidFill>
          <a:ln/>
        </p:spPr>
      </p:sp>
      <p:sp>
        <p:nvSpPr>
          <p:cNvPr id="23" name="Text 21"/>
          <p:cNvSpPr/>
          <p:nvPr/>
        </p:nvSpPr>
        <p:spPr>
          <a:xfrm>
            <a:off x="6464808" y="357530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Legal &amp; Compliance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64808" y="386791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Investor-ready structure, contracts, NDAs, PDPA docs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738360" y="3575304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 8,000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9738360" y="389534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B8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0080" y="4526280"/>
            <a:ext cx="108813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773168"/>
            <a:ext cx="384048" cy="384048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508760" y="4681728"/>
            <a:ext cx="9738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2A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paths to the same RM205,000: 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A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grant (MDAG / Cradle Fund), this is simply the project budget — non-dilutive, no valuation needed. As equity against an estimated RM200k–800k pre-money valuation, RM205,000 implies roughly 20–30% dilution — which is why the grant route is the better-fit instrument at this stage.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4114800"/>
            <a:ext cx="5486400" cy="5486400"/>
          </a:xfrm>
          <a:prstGeom prst="ellipse">
            <a:avLst/>
          </a:prstGeom>
          <a:solidFill>
            <a:srgbClr val="C9A227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0116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Build This Together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8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a conversation — no obligation, no pressure.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520440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34747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+60 11-376 3788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023360"/>
            <a:ext cx="292608" cy="2926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39776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F2-22-15 Tamarind Suites, Persiaran Bestari, 63000 Cyberjaya, Selangor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822960" y="4663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www.dutaintegra.my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Duta Integra Solutions - Investor Overview</dc:title>
  <dc:subject>PptxGenJS Presentation</dc:subject>
  <dc:creator>Duta Integra Solutions</dc:creator>
  <cp:lastModifiedBy>Duta Integra Solutions</cp:lastModifiedBy>
  <cp:revision>1</cp:revision>
  <dcterms:created xsi:type="dcterms:W3CDTF">2026-06-30T19:11:29Z</dcterms:created>
  <dcterms:modified xsi:type="dcterms:W3CDTF">2026-06-30T19:11:29Z</dcterms:modified>
</cp:coreProperties>
</file>