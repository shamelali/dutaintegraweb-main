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D4AF37"/>
                </a:solidFill>
                <a:latin typeface="Calibri"/>
              </a:defRPr>
            </a:pPr>
            <a:r>
              <a:t>DUTA INTEGRA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8C8C8"/>
                </a:solidFill>
                <a:latin typeface="Calibri"/>
              </a:defRPr>
            </a:pPr>
            <a:r>
              <a:t>AI &amp; Managed IT for Malaysian SMEs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100% Malaysian-Owned | Founded 2021 | Cyberjaya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All Products &amp; Services Owned by Duta Integra Solutions Sdn Bhd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https://dutaintegra.my | hello@dutaintegra.my | +60 11-5403 4051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Merdeka 2026: 69% Off First Month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CONFIDENTIAL - Investor Pitch Deck - 21 Aug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1.17M Malaysian SMEs are digitally left behind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97.4% of businesses in MY are SMEs, contribute 38% GDP, but only 28% have website, 5% use AI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IT breaks, no one to call - 60% cite 'lack of reliable IT support' as top barrier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Leads lost in WhatsApp chaos - no CRM, no follow-up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AI feels expensive &amp; foreign - agencies charge high, disappear after launch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PDPA fines up to RM1M (2024 amendments) - SMEs scared, no audit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Forced to hire 2 vendors: IT shop (no AI) + Agency (no IT, no PDPA)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Result: Downtime, data leaks, missed sales, failed digitalization grants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One Partner. Three Retainers. All Owned IP.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Duta Integra Solutions is AI-first Managed IT partner based in Cyberjaya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ONE VENDOR for AI + IT + Cloud + Security + PDPA + Sales + Content + Ads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THREE SIMPLE RETAINERS, month-to-month, no lock-in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ENTERPRISE-GRADE on zero-cost infra (Vercel Edge SG &lt;40ms + Neon Serverless)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WHATSAPP-FIRST: 1-click lead follow-up, WhatsApp chatbots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PDPA-NATIVE: Consent logging, audit, policy drafting included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✓ PROPOSAL IN 3 DAYS + FREE AUDIT + 24/7 HELPDESK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We own everything we sell - not reselling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OWNED PRODUCTS (Our IP Assets)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4 Live Products + Admin Dashboard - All Built &amp; Owned by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LEISH.MY - Beauty Booking Marketplace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AI chatbot absorbs 70% enquiries, 24/7 booking, 3x efficiency - Live 2026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EASTELPRO - WiFi Marketing &amp; SIM Platform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Captive portal, PDPA consent logging, OTP auth, affiliate engine - 99.9% uptime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AGMX - Malaysia's First AI-Powered Cooperative AGM OS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E-voting, Akta Koperasi 1993 compliance automation, 4-agent Governance Copilot - 98% compliance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DUTACONNECT - Community Platform (Launching Soon)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Forums, jobs, housing for Indonesians in MY - 1K+ users target, lead-gen for retainers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ADMIN DASHBOARD (Bundled with EVERY project)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Lead pipeline new→contacted→closed, WhatsApp 1-click, CSV export, AI Token Cost-Cap safeguard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OWNED SERVICES - MRR FIRST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Entry Door → Retainers → SaaS Spin-offs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ENTRY: Business Website - From RM2,500 (Merdeka RM775)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Up to 8 pages, mobile-first, WhatsApp capture, SEO, Maps - natural bridge to retainer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TIER 1: FOUNDATION - RM2,000/mo (Merdeka RM620 first month)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24/7 helpdesk, cloud infra &amp; backups, security monitoring, PDPA support, monthly report, dedicated engineer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TIER 2: GROWTH - RM5,300/mo (Most Chosen, Merdeka RM1,643)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Foundation + Sales Automation (RM1.5k) + Content (RM1k) + Ads (RM800) + Account Manager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TIER 3: AI PARTNER - From RM8,300/mo (Merdeka From RM2,573)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  Growth + Dedicated AI dev RM3k + 1 AI system per half-year + Quarterly strategy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 LA CARTE: Care RM150, Sales RM1.5k, Content RM1k, Ads RM800, Custom AI From RM18k (Merdeka RM5,580)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Huge TAM, Small SAM, Tiny SOM = Conservative &amp; Achievable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TAM: 1.17M SMEs × RM3k avg × 12 = RM42.12B/year (RM28B at RM2k)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SAM: Digital-ready SMEs in Klang Valley, Selangor, Perak, Johor, Penang = 100k businesses = RM3.6B/year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SOM Y1: 30 retainers = RM1.49M ARR = 0.04% SAM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SOM Y2: 60 retainers = RM2.99M ARR = 0.08% SAM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SOM Y3: 100 retainers + SaaS = RM5.1M ARR = 0.14% SAM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TRENDS FAVORING US: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PDPA enforcement tightening - fines up to RM1M, need audit (we include)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AI hype → AI ROI - SMEs want practical chatbot (Leish 70% case study)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WhatsApp Economy - MY SMEs run on WhatsApp, we are WhatsApp-first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Serverless cost advantage - Vercel+Neon RM0 start vs competitors RM500/mo hosting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15,000+ cooperatives need AGM digitalization - AGMX first mover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BUSINESS MODEL &amp; 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MRR-First, 60-65% Gross Margin, LTV/CAC 50-100x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REVENUE STREAMS: 70% MRR Retainers, 15% One-offs (CAC paid by client), 10% SaaS (future), 5% Add-ons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FOUNDATION: RM2k/mo, Cost RM700, Margin 65%, CAC RM500, Payback &lt;1mo, LTV RM48k (24mo), LTV/CAC 96x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GROWTH: RM5.3k/mo, Cost RM2k, Margin 62%, CAC RM1k, Payback &lt;1mo, LTV RM95.4k (18mo), LTV/CAC 95x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AI PARTNER: RM8.3k/mo, Cost RM3.3k, Margin 60%, CAC RM1.5k, Payback &lt;1mo, LTV RM99.6k (12mo), LTV/CAC 66x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MERDEKA PROMO MATH: Growth first month RM1,643 vs cost RM2k = -RM357 loss, but 18mo profit = RM55,743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→ Worth it. Creates urgency: 69% Aug, 63% Sep, then list rate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WHY MRR-FIRST: Predictable cash, higher valuation (ARR 5-10x), aligns incentives, sticky AI = high switching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TRACTION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Bootstrapped, 5+ Products Shipped, 3 Retainers 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TRACTION: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Founded 2021 Cyberjaya, 100% Malaysian-owned, bootstrapped, profitable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5+ client projects: Leish (70% fewer enquiries), Eastelpro (99.9% uptime), AGMX (98% compliance, 16 AGMs)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3 active MRR retainers, stack proven Vercel Hobby + Neon Free = RM0 infra start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PDPA-aware, free audit, proposal in 3 days, month-to-month no lock-in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GO-TO-MARKET: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Free Audit Funnel: Website CTA → Audit → 3-day Proposal → Close (30-40% target, 7-14 days cycle)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Merdeka Campaign: Social + WhatsApp broadcast + SEO (AI chatbot MY, Managed IT Cyberjaya)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Content: Case studies Leish/Eastelpro/AGMX, PDPA education, AI practical, behind scenes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WhatsApp Engine: All CTAs to WhatsApp, admin dashboard 1-click reply = speed = close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Referral: 1 month free for both after 3 months stay (SMEs trust word-of-mouth)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Partnerships: MDEC, SME Corp, SKM, Exabytes, business associations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COMPETITIVE ADVANTAGE - OUR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Why We Win vs IT Shops, Agencies, SaaS, Freelancers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1. OWNED IP STACK: Competitors resell Hostinger/GoDaddy/white-label CRM. We own. Margin control.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2. AI + IT COMBINED: One vendor, simpler, cheaper, coordinated. No one else in MY SME space does both well.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3. PDPA-NATIVE: Every product has consent logging, audit trail. Built for MY law, not US.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4. WHATSAPP-FIRST: 1-click WhatsApp action, WhatsApp chatbots, capture. MY runs on WhatsApp.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5. ZERO-COST INFRA: Vercel+Neon free tier = RM0 infra to start, competitors RM500/mo. Pass savings.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6. NICHE DOMINANCE - AGMX: Only AI-powered AGM OS for Koperasi in MY. Akta Koperasi 1993 complex, we coded engine.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7. MONTH-TO-MONTH TRUST: No lock-in vs competitors 12mo. Win trust, retain via value.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8. PROOF PRODUCTS: Leish, Eastelpro, AGMX live, not slides. Client can preview.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FINANCIAL PROJECTIONS (3-Year)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Conservative: 30 → 60 → 100 Retainers + SaaS Spin-offs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YEAR 1 (30 Retainers): MRR 124.5k (15×2k +10×5.3k +5×8.3k), ARR 1.494M, Avg MRR 60k×12=720k + One-offs 140k = ~860k recognized (1.63M if 30 at start). Costs 440k (staff 300k, tools 20k, marketing 80k, ops 40k). EBITDA 420k (48%).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YEAR 2 (60 Retainers + SaaS): MRR 249k (30×2k+20×5.3k+10×8.3k), ARR 2.99M, Avg MRR 180k×12=2.16M + One-offs 255k + SaaS 538k (100 Leish×199 +50 Eastelpro×299 +20 AGMX×499) = ~2.95M. Costs 870k. EBITDA 2.08M (70%).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YEAR 3 (100 Retainers + SaaS Scale): MRR 425k (50×2k+30×5.3k+20×8.3k), ARR 5.1M, Avg MRR 330k×12=3.96M + One-offs 370k + SaaS 1.554M (300 Leish +150 Eastelpro +50 AGMX) = ~5.88M. Costs 1.68M. EBITDA 4.2M (71%).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TEAM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Lean Team, Clear Hiring Plan, Path to 100 Retainers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CURRENT TEAM: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Founder &amp; CEO: Strategy, BD, client relationships, fundraising, PDPA &amp; compliance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Tech Lead: AI dev, architecture, Vercel/Neon/Next.js stack owner, owns all IP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IT Support Specialist: Managed IT, monitoring, client support, helpdesk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HIRING PLAN: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Q3 2026: Sales &amp; Account Manager + Content &amp; Ads Specialist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Q4 2026: Junior AI Developer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Q1 2027: Junior IT Support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2028: Team 12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ROADMAP: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Q3 2026: Merdeka launch 10 retainers, DutaConnect Beta 1K users, BI dashboards, trademark MyIPO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Q4 2026: 20 retainers MRR ~80k, AGMX v2, referral program, case study videos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Q1 2027: 30 retainers MRR 124.5k, annual prepaid discount (12mo=10mo price)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Q2 2027: Productize Eastelpro &amp; Leish SaaS, explore MDEC MD2 grant, 40 retainers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2028: 100 retainers MRR 425k ARR 5.1M + SaaS 1.5M = 5.88M revenue, EBITDA 4.2M, explore ID market via DutaConnect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A1940"/>
                </a:solidFill>
                <a:latin typeface="Calibri"/>
              </a:defRPr>
            </a:pPr>
            <a:r>
              <a:t>THE ASK &amp; 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Bootstrapped &amp; Profitable - Optional RM500k Seed to Accelerate SaaS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3716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455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STATUS: Bootstrapped, no debt, profitable. Seeking optional grant/seed to amplify distribution of owned IP (not to build IP - IP already built).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IF RAISING RM500k SEED: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Team 50% RM250k: Sales Manager, Content Specialist, Junior AI Dev, Junior IT Support (12mo)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Marketing &amp; Sales 20% RM100k: Meta/Google Ads, content, Merdeka campaign, SME expo booths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Product &amp; SaaS 20% RM100k: Leish SaaS, Eastelpro SaaS, AGMX v2, BI dashboards, DutaConnect scale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Ops &amp; Legal 10% RM50k: Trademark, PDPA lawyer, office, tools (Vercel Pro, Neon)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• 18-month runway to 60 retainers + SaaS, expected return Y2 revenue RM2.95M EBITDA RM2.08M = 4x+ return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ALTERNATIVE: No funding, grow organically via MRR reinvestment - slower but profitable Day 1. Both viable.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CONTACT: hello@dutaintegra.my | +60 11-5403 4051 | https://dutaintegra.my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Cyberjaya, Selangor + Hutan Melintang, Perak | 100% Malaysian-Owned | All IP Owned by Duta Integra Solutions Sdn Bhd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45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Calibri"/>
              </a:defRPr>
            </a:pPr>
            <a:r>
              <a:t>Duta Integra Solutions Sdn Bhd | 100% Malaysian-Owned | All IP Owned | hello@dutaintegra.my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