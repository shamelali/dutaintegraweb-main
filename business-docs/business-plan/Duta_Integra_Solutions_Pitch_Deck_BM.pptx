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Calibri"/>
              </a:defRPr>
            </a:pPr>
            <a:r>
              <a:t>DUTA INTEGRA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alibri"/>
              </a:defRPr>
            </a:pPr>
            <a:r>
              <a:t>AI &amp; IT Terurus untuk PKS Malaysia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100% Milik Malaysia | Ditubuhkan 2021 | Cyberjaya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Semua Produk &amp; Perkhidmatan Dimiliki oleh Duta Integra Solutions Sdn Bhd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https://dutaintegra.my | hello@dutaintegra.my | +60 11-5403 4051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Merdeka 2026: 69% Diskaun Bulan Pertama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SULIT - Pitch Deck Pelabur - 21 Ogos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1.17J PKS Malaysia ketinggalan secara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97.4% perniagaan di MY adalah PKS, sumbang 38% KDNK, tetapi hanya 28% ada laman web, 5% guna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IT rosak, tiada siapa untuk hubungi - 60% kata 'tiada sokongan IT boleh dipercayai' halangan utama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Lead hilang dalam kekacauan WhatsApp - tiada CRM, tiada susulan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 terasa mahal &amp; asing - agensi caj tinggi, hilang selepas pelancaran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Denda PDPA hingga RM1J (pindaan 2024) - PKS takut, tiada audit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Terpaksa upah 2 vendor: Kedai IT (tiada AI) + Agensi (tiada IT, tiada PDPA)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Hasil: Downtime, kebocoran data, jualan terlepas, geran pendigitalan gagal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Milik Malaysia | Semua IP Dimiliki | hello@dutaintegra.my | Sulit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PENYELESAIAN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Satu Rakan Kongsi. Tiga Retainer. Semua IP Milik Sendiri.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Duta Integra Solutions adalah rakan kongsi IT terurus berasaskan AI pertama di Cyberjaya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SATU VENDOR untuk AI + IT + Cloud + Keselamatan + PDPA + Jualan + Kandungan + Iklan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TIGA RETAINER MUDAH, bulan-ke-bulan, tiada lock-in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GRED ENTERPRISE atas infra kos-sifar (Vercel Edge SG &lt;40ms + Neon Serverless)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WHATSAPP-FIRST: Susulan lead 1-klik, chatbot WhatsApp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PDPA-NATIVE: Log persetujuan, audit, penggubalan dasar termasuk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PROPOSAL DALAM 3 HARI + AUDIT PERCUMA + HELPDESK 24/7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Kami memiliki semua yang kami jual - bukan jual semula alatan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PRODUK MILIK SENDIRI (Aset IP Kami)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4 Produk Langsung + Papan Pemuka Admin - Semua Dibina &amp; Dimiliki Kami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LEISH.MY - Marketplace Tempahan Kecantikan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Chatbot AI serap 70% pertanyaan, tempahan 24/7, kecekapan 3x - Langsung 2026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EASTELPRO - Platform Pemasaran WiFi &amp; SIM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Captive portal, log persetujuan PDPA, pengesahan OTP, enjin affiliate - 99.9% uptime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AGMX - OS AGM Koperasi Berkuasa AI Pertama Malaysia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E-voting, automasi pematuhan Akta Koperasi 1993, 4-ejen Governance Copilot - 98% pematuhan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DUTACONNECT - Platform Komuniti (Bakal Dilancar)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Forum, kerja, perumahan untuk warga Indonesia di MY - sasaran 1K+ pengguna, lead-gen untuk retainer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PAPAN PEMUKA ADMIN (Digabungkan dengan SETIAP projek)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Saluran lead baru→dihubungi→tutup, WhatsApp 1-klik, eksport CSV, perlindungan Cost-Cap Token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PERKHIDMATAN MILIK SENDIRI - MRR DAHULU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Pintu Masuk → Retainer → Spin-off 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MASUK: Laman Web Perniagaan - Dari RM2,500 (Merdeka RM775)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Sehingga 8 halaman, mobile-first, tangkapan WhatsApp, SEO, Peta - jambatan semula jadi kepada retainer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1: ASAS (FOUNDATION) - RM2,000/bln (Merdeka RM620 bulan pertama)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Helpdesk 24/7, infra cloud &amp; backup, pemantauan keselamatan, sokongan PDPA, laporan bulanan, jurutera dedikasi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2: PERTUMBUHAN (GROWTH) - RM5,300/bln (Paling Dipilih, Merdeka RM1,643)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Asas + Automasi Jualan (RM1.5k) + Kandungan (RM1k) + Iklan (RM800) + Pengurus Akaun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3: RAKAN AI (AI PARTNER) - Dari RM8,300/bln (Merdeka Dari RM2,573)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Pertumbuhan + Dev AI dedikasi RM3k + 1 sistem AI setiap setengah tahun + Ulasan strategi suku tahunan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 LA CARTE: Penjagaan RM150, Jualan RM1.5k, Kandungan RM1k, Iklan RM800, AI Tersuai Dari RM18k (Merdeka RM5,580)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PELUANG PASARAN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TAM Besar, SAM Kecil, SOM Kecil = Konservatif &amp; Boleh Dicapai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TAM: 1.17J PKS × RM3k purata × 12 = RM42.12B/tahun (RM28B pada RM2k)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SAM: PKS sedia-digital di Lembah Klang, Selangor, Perak, Johor, Pulau Pinang = 100k perniagaan = RM3.6B/tahun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Tahun1: 30 retainer = RM1.49J ARR = 0.04%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Tahun2: 60 retainer = RM2.99J ARR = 0.08%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Tahun3: 100 retainer + SaaS = RM5.1J ARR = 0.14%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TREND MEMIHAK KAMI: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Penguatkuasaan PDPA mengetat - denda hingga RM1J, perlukan audit (kami termasuk)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 hype → AI ROI - PKS mahu chatbot praktikal (kajian kes Leish 70%)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Ekonomi WhatsApp - PKS MY beroperasi atas WhatsApp, kami WhatsApp-first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Kelebihan kos Serverless - Vercel+Neon RM0 mula vs pesaing RM500/bln hosting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15,000+ koperasi perlukan pendigitalan AGM - AGMX first mover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MODEL PERNIAGAAN &amp; EKONOMI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MRR-Dahulu, Margin Kasar 60-65%, LTV/CAC 50-100x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ALIRAN HASIL: 70% Retainer MRR, 15% Sekali (CAC dibayar pelanggan), 10% SaaS (masa depan), 5% Add-on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ASAS: RM2k/bln, Kos RM700, Margin 65%, CAC RM500, Payback &lt;1bln, LTV RM48k (24bln), LTV/CAC 96x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PERTUMBUHAN: RM5.3k/bln, Kos RM2k, Margin 62%, CAC RM1k, Payback &lt;1bln, LTV RM95.4k (18bln), LTV/CAC 95x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RAKAN AI: RM8.3k/bln, Kos RM3.3k, Margin 60%, CAC RM1.5k, Payback &lt;1bln, LTV RM99.6k (12bln), LTV/CAC 66x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MATEMATIK PROMO MERDEKA: Pertumbuhan bulan pertama RM1,643 vs kos RM2k = rugi -RM357, tetapi untung 18bln = RM55,743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→ Berbaloi. Mewujudkan urgensi: 69% Ogos, 63% Sep, kemudian kadar senarai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DAYA TARIKAN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Bootstrapped, 5+ Produk Dihantar, 3 Retainer Langsung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DAYA TARIKAN: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Ditubuhkan 2021 Cyberjaya, 100% milik Malaysia, bootstrapped, menguntungkan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5+ projek pelanggan: Leish (70% kurang pertanyaan), Eastelpro (99.9% uptime), AGMX (98% pematuhan, 16 AGM)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 retainer MRR aktif, timbunan terbukti Vercel Hobby + Neon Free = infra RM0 mula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Peka PDPA, audit percuma, proposal dalam 3 hari, bulan-ke-bulan tiada lock-in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GO-TO-MARKET: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Funnel Audit Percuma: CTA Laman Web → Audit → Proposal 3-hari → Tutup (sasaran 30-40%, kitaran 7-14 hari)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Kempen Merdeka: Sosial + siaran WhatsApp + SEO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Kandungan: Kajian kes Leish/Eastelpro/AGMX, pendidikan PDPA, AI praktikal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Enjin WhatsApp: Semua CTA ke WhatsApp, balasan 1-klik = kelajuan = tutup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Rujukan: 1 bulan percuma untuk kedua-dua selepas 3 bulan kekal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Perkongsian: MDEC, SME Corp, SKM, Exabytes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KELEBIHAN KOMPETITIF - MOAT KAMI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Mengapa Kami Menang vs Kedai IT, Agensi, SaaS, Freelancer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TIMBUNAN IP MILIK SENDIRI: Pesaing jual semula Hostinger/GoDaddy/CRM white-label. Kami milik. Kawalan margin.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AI + IT BERGABUNG: Satu vendor, lebih mudah, murah, terkoordinasi.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PDPA-NATIVE: Setiap produk ada log persetujuan, jejak audit. Dibina untuk undang-undang MY.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WHATSAPP-FIRST: Tindakan WhatsApp 1-klik, chatbot WhatsApp, tangkapan. MY beroperasi atas WhatsApp.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INFRA KOS-SIFAR: Vercel+Neon tier percuma = infra RM0 untuk bermula, pesaing RM500/bln.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6. DOMINASI NICHE - AGMX: Satu-satunya OS AGM berkuasa AI untuk Koperasi di MY.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7. KEPERCAYAAN BULAN-KE-BULAN: Tiada lock-in vs pesaing 12bln.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8. PRODUK BUKTI: Leish, Eastelpro, AGMX langsung, bukan slaid.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UNJURAN KEWANGAN (3-Tahun)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Konservatif: 30 → 60 → 100 Retainer + Spin-off 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TAHUN 1 (30 Retainer): MRR 124.5k ARR 1.494J, Purata MRR 60k×12=720k + Sekali 140k = ~860k diiktiraf (1.63J jika 30 pada permulaan). Kos 440k. EBITDA 420k (48%).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TAHUN 2 (60 Retainer + SaaS): MRR 249k ARR 2.99J, Purata MRR 180k×12=2.16J + Sekali 255k + SaaS 538k = ~2.95J. Kos 870k. EBITDA 2.08J (70%).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TAHUN 3 (100 Retainer + SaaS Skala): MRR 425k ARR 5.1J, Purata MRR 330k×12=3.96J + Sekali 370k + SaaS 1.554J = ~5.88J. Kos 1.68J. EBITDA 4.2J (71%).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PASUKAN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Pasukan Lean, Pelan Pengambilan Jelas, Laluan ke 100 Retainer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PASUKAN SEMASA: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Pengasas &amp; CEO: Strategi, BD, hubungan pelanggan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Tech Lead: Pembangunan AI, seni bina, pemilik timbunan Vercel/Neon/Next.js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Pakar Sokongan IT: IT terurus, pemantauan, sokongan pelanggan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PELAN PENGAMBILAN: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Q3 2026: Pengurus Jualan &amp; Akaun + Pakar Kandungan &amp; Iklan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Q4 2026: Pembangun AI Junior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Q1 2027: Sokongan IT Junior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2028: Pasukan 12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ROADMAP: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Q3 2026: Pelancaran Merdeka 10 retainer, DutaConnect Beta 1K pengguna, BI dashboards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Q4 2026: 20 retainer MRR ~80k, AGMX v2, program rujukan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Q1 2027: 30 retainer MRR 124.5k, diskaun prabayar tahunan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Q2 2027: Produkkan Eastelpro &amp; Leish SaaS, teroka geran MDEC MD2, 40 retainers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2028: 100 retainers MRR 425k ARR 5.1M + SaaS 1.5M = 5.88M hasil, EBITDA 4.2M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PERMINTAAN &amp; PENGGUNAAN DANA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Bootstrapped &amp; Menguntungkan - Pilihan RM500k Seed untuk Mempercepat 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STATUS: Bootstrapped, tiada hutang, menguntungkan. Mencari geran pilihan/benih untuk menguatkan pengedaran IP milik (bukan untuk bina IP - IP sudah dibina).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JIKA MENGUMPUL RM500k SEED: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Pasukan 50% RM250k: Pengurus Jualan, Pakar Kandungan, Junior AI Dev, Junior IT Support (12bln)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Pemasaran &amp; Jualan 20% RM100k: Iklan Meta/Google, kandungan, kempen Merdeka, booth ekspo PKS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Produk &amp; SaaS 20% RM100k: Leish SaaS, Eastelpro SaaS, AGMX v2, BI dashboards, skala DutaConnect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Ops &amp; Perundangan 10% RM50k: Tanda dagangan, peguam PDPA, pejabat, alatan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Runway 18-bulan kepada 60 retainer + SaaS, jangkaan pulangan Tahun2 hasil RM2.95J EBITDA RM2.08J = pulangan 4x+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HUBUNGI: hello@dutaintegra.my | +60 11-5403 4051 | https://dutaintegra.my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Cyberjaya, Selangor + Hutan Melintang, Perak | 100% Milik Malaysia | Semua IP Dimiliki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